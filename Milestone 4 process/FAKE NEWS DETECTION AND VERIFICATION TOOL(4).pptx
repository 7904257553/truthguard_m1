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7" r:id="rId2"/>
    <p:sldId id="272" r:id="rId3"/>
    <p:sldId id="258" r:id="rId4"/>
    <p:sldId id="270" r:id="rId5"/>
    <p:sldId id="260" r:id="rId6"/>
    <p:sldId id="262" r:id="rId7"/>
    <p:sldId id="265" r:id="rId8"/>
    <p:sldId id="268" r:id="rId9"/>
    <p:sldId id="267" r:id="rId10"/>
    <p:sldId id="269" r:id="rId11"/>
    <p:sldId id="271" r:id="rId12"/>
    <p:sldId id="27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49" autoAdjust="0"/>
    <p:restoredTop sz="94660"/>
  </p:normalViewPr>
  <p:slideViewPr>
    <p:cSldViewPr snapToGrid="0">
      <p:cViewPr varScale="1">
        <p:scale>
          <a:sx n="62" d="100"/>
          <a:sy n="62" d="100"/>
        </p:scale>
        <p:origin x="1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53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38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11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31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76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96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98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54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98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848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54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39C8288-097E-48EA-9BF0-D4A0BC857E4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AB31EC-0531-4941-A80D-A78FD345D14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3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D2F7-68FC-E736-3E31-75E54E5B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Aptos Narrow" panose="020B0004020202020204" pitchFamily="34" charset="0"/>
              </a:rPr>
              <a:t>FAKE NEWS DETECTION AND VERIFICATION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FD4B8-E9C0-6D11-AEC1-2A2DB3647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829" y="3855644"/>
            <a:ext cx="8354945" cy="25299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Presented By:</a:t>
            </a:r>
          </a:p>
          <a:p>
            <a:pPr marL="0" indent="0">
              <a:buNone/>
            </a:pPr>
            <a:r>
              <a:rPr lang="en-US" dirty="0"/>
              <a:t>👉 Name : JANANI A</a:t>
            </a:r>
          </a:p>
          <a:p>
            <a:pPr marL="0" indent="0">
              <a:buNone/>
            </a:pPr>
            <a:r>
              <a:rPr lang="en-US" dirty="0"/>
              <a:t>👉Mentor : V. Manjuladevi</a:t>
            </a:r>
            <a:endParaRPr lang="en-US" b="1" i="1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👉Dept/College :CSE/Kingston Engineering College</a:t>
            </a:r>
            <a:endParaRPr lang="en-US" i="1" dirty="0"/>
          </a:p>
        </p:txBody>
      </p:sp>
      <p:pic>
        <p:nvPicPr>
          <p:cNvPr id="8194" name="Picture 2" descr="Online fake news and disinformation ...">
            <a:extLst>
              <a:ext uri="{FF2B5EF4-FFF2-40B4-BE49-F238E27FC236}">
                <a16:creationId xmlns:a16="http://schemas.microsoft.com/office/drawing/2014/main" id="{156DA039-BD09-D6F3-DB4A-046C38294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37" y="2353390"/>
            <a:ext cx="3904501" cy="353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79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AAD9CC-A1AE-C8B0-7793-35C4E62AD51A}"/>
              </a:ext>
            </a:extLst>
          </p:cNvPr>
          <p:cNvSpPr txBox="1"/>
          <p:nvPr/>
        </p:nvSpPr>
        <p:spPr>
          <a:xfrm>
            <a:off x="585627" y="1047964"/>
            <a:ext cx="8560941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/>
              <a:t>INTRODUCTION: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AI-Powered Fake News Detection using LLMs.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err="1"/>
              <a:t>Truthguard</a:t>
            </a:r>
            <a:r>
              <a:rPr lang="en-US" sz="2000" dirty="0"/>
              <a:t> is designed as a smart verification tool that uses </a:t>
            </a:r>
            <a:r>
              <a:rPr lang="en-US" sz="2000" b="1" dirty="0"/>
              <a:t>Natural Language Processing (NLP)</a:t>
            </a:r>
            <a:r>
              <a:rPr lang="en-US" sz="2000" dirty="0"/>
              <a:t> and </a:t>
            </a:r>
            <a:r>
              <a:rPr lang="en-US" sz="2000" b="1" dirty="0"/>
              <a:t>LLM-based semantic understanding</a:t>
            </a:r>
            <a:r>
              <a:rPr lang="en-US" sz="2000" dirty="0"/>
              <a:t> to evaluate news content deeply rather than relying only on keywords.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The system understands the </a:t>
            </a:r>
            <a:r>
              <a:rPr lang="en-US" sz="2000" b="1" dirty="0"/>
              <a:t>context, intent, and factual consistency</a:t>
            </a:r>
            <a:r>
              <a:rPr lang="en-US" sz="2000" dirty="0"/>
              <a:t> of the news and compares it with trusted sources to determine its credibility.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9158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5415F5-4C9C-3D12-5FE5-F048469805E6}"/>
              </a:ext>
            </a:extLst>
          </p:cNvPr>
          <p:cNvSpPr txBox="1"/>
          <p:nvPr/>
        </p:nvSpPr>
        <p:spPr>
          <a:xfrm>
            <a:off x="254285" y="483154"/>
            <a:ext cx="60977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Project Statement &amp; </a:t>
            </a:r>
            <a:r>
              <a:rPr lang="en-IN" sz="3200" b="1" dirty="0" err="1"/>
              <a:t>TruthGuard</a:t>
            </a:r>
            <a:r>
              <a:rPr lang="en-IN" sz="3200" b="1" dirty="0"/>
              <a:t>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E21F1-BC46-573C-149E-56F3F2A4DFD2}"/>
              </a:ext>
            </a:extLst>
          </p:cNvPr>
          <p:cNvSpPr txBox="1"/>
          <p:nvPr/>
        </p:nvSpPr>
        <p:spPr>
          <a:xfrm>
            <a:off x="254285" y="2040697"/>
            <a:ext cx="749243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today’s digital world, fake news spreads rapidly through social media and online platforms, misleading users and causing misinformation.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Manual verification is time-consuming and unreliable.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Hence, there is a need for an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automated, intelligent system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detect and verify fake news accurately.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4D0CBE-1079-D17A-EF46-74E4973510D4}"/>
              </a:ext>
            </a:extLst>
          </p:cNvPr>
          <p:cNvSpPr txBox="1"/>
          <p:nvPr/>
        </p:nvSpPr>
        <p:spPr>
          <a:xfrm>
            <a:off x="156253" y="4737013"/>
            <a:ext cx="118794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Truthguard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is an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AI-based fake news detection and verification tool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that analyzes news content or URLs and determines whether the information is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Real, Suspicious, or Fake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using Large Language Models and fact-checking techniques.</a:t>
            </a:r>
          </a:p>
        </p:txBody>
      </p:sp>
      <p:pic>
        <p:nvPicPr>
          <p:cNvPr id="7170" name="Picture 2" descr="Elevating Media Literacy: Tools and ...">
            <a:extLst>
              <a:ext uri="{FF2B5EF4-FFF2-40B4-BE49-F238E27FC236}">
                <a16:creationId xmlns:a16="http://schemas.microsoft.com/office/drawing/2014/main" id="{A1E694D8-5BC7-BD27-DD2B-78617C6FD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714" y="349322"/>
            <a:ext cx="4325421" cy="269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863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968413-7A3E-C675-7ED5-ECD00BE3DB3B}"/>
              </a:ext>
            </a:extLst>
          </p:cNvPr>
          <p:cNvSpPr txBox="1"/>
          <p:nvPr/>
        </p:nvSpPr>
        <p:spPr>
          <a:xfrm>
            <a:off x="384048" y="574464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How It Works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5558A2-B547-6310-C6AC-951CAE214703}"/>
              </a:ext>
            </a:extLst>
          </p:cNvPr>
          <p:cNvSpPr/>
          <p:nvPr/>
        </p:nvSpPr>
        <p:spPr>
          <a:xfrm>
            <a:off x="259080" y="1263115"/>
            <a:ext cx="2286000" cy="13743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1. Paste Content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4B2334D-DD33-70E1-3551-55E46864C5FE}"/>
              </a:ext>
            </a:extLst>
          </p:cNvPr>
          <p:cNvSpPr/>
          <p:nvPr/>
        </p:nvSpPr>
        <p:spPr>
          <a:xfrm>
            <a:off x="2670048" y="1645288"/>
            <a:ext cx="621792" cy="57393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CBEF81-8B63-8801-D2CD-CF0D330DD536}"/>
              </a:ext>
            </a:extLst>
          </p:cNvPr>
          <p:cNvSpPr/>
          <p:nvPr/>
        </p:nvSpPr>
        <p:spPr>
          <a:xfrm>
            <a:off x="3377184" y="1234575"/>
            <a:ext cx="2048256" cy="13743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2. AI Analysis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09015B0-7A13-FA31-B101-B78C6CFA00D3}"/>
              </a:ext>
            </a:extLst>
          </p:cNvPr>
          <p:cNvSpPr/>
          <p:nvPr/>
        </p:nvSpPr>
        <p:spPr>
          <a:xfrm>
            <a:off x="5510784" y="1645288"/>
            <a:ext cx="621792" cy="49730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59A44A-DA0E-29FC-0C32-2A1B1D9D889A}"/>
              </a:ext>
            </a:extLst>
          </p:cNvPr>
          <p:cNvSpPr/>
          <p:nvPr/>
        </p:nvSpPr>
        <p:spPr>
          <a:xfrm>
            <a:off x="6217920" y="1281906"/>
            <a:ext cx="2196615" cy="13132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3. Get Results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BBC5114-4548-C84B-A90D-AF45C384BABF}"/>
              </a:ext>
            </a:extLst>
          </p:cNvPr>
          <p:cNvSpPr/>
          <p:nvPr/>
        </p:nvSpPr>
        <p:spPr>
          <a:xfrm>
            <a:off x="6496606" y="3508764"/>
            <a:ext cx="2332131" cy="15081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r>
              <a:rPr lang="en-IN" sz="2000" dirty="0"/>
              <a:t>. Ask </a:t>
            </a:r>
            <a:r>
              <a:rPr lang="en-IN" sz="2000" dirty="0" err="1"/>
              <a:t>TruthBot</a:t>
            </a:r>
            <a:endParaRPr lang="en-IN" sz="20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167B80F-A10C-365E-C2C8-14EAF63B58E7}"/>
              </a:ext>
            </a:extLst>
          </p:cNvPr>
          <p:cNvSpPr/>
          <p:nvPr/>
        </p:nvSpPr>
        <p:spPr>
          <a:xfrm>
            <a:off x="7242048" y="2686121"/>
            <a:ext cx="420624" cy="742879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FDE270A0-828F-72EE-393A-8CEE1F0459D2}"/>
              </a:ext>
            </a:extLst>
          </p:cNvPr>
          <p:cNvSpPr/>
          <p:nvPr/>
        </p:nvSpPr>
        <p:spPr>
          <a:xfrm>
            <a:off x="5699760" y="4054150"/>
            <a:ext cx="670560" cy="497301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B7C5E2D-EDC7-E4C6-BE95-2829E8262520}"/>
              </a:ext>
            </a:extLst>
          </p:cNvPr>
          <p:cNvSpPr/>
          <p:nvPr/>
        </p:nvSpPr>
        <p:spPr>
          <a:xfrm>
            <a:off x="2989780" y="3511297"/>
            <a:ext cx="2521004" cy="15056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5. Make an Informed Choice</a:t>
            </a:r>
            <a:endParaRPr lang="en-IN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FFCDC2-64BA-932B-6F9E-0201DD8A3590}"/>
              </a:ext>
            </a:extLst>
          </p:cNvPr>
          <p:cNvSpPr txBox="1"/>
          <p:nvPr/>
        </p:nvSpPr>
        <p:spPr>
          <a:xfrm>
            <a:off x="932380" y="5470828"/>
            <a:ext cx="85712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Paste the content → AI checks it → Get result → Ask questions → Decide wisely.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9053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F9094-FAAF-E52B-DB19-7AEF9FE5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D93F63-2FDD-FDCD-9185-51E05631B028}"/>
              </a:ext>
            </a:extLst>
          </p:cNvPr>
          <p:cNvSpPr txBox="1"/>
          <p:nvPr/>
        </p:nvSpPr>
        <p:spPr>
          <a:xfrm>
            <a:off x="254285" y="483154"/>
            <a:ext cx="60977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Outcomes of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112F9-2303-F7F0-F02F-7E364B3EEA22}"/>
              </a:ext>
            </a:extLst>
          </p:cNvPr>
          <p:cNvSpPr txBox="1"/>
          <p:nvPr/>
        </p:nvSpPr>
        <p:spPr>
          <a:xfrm>
            <a:off x="400691" y="1664413"/>
            <a:ext cx="1035635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Automatically detects fake and misleading news content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Classifies news as </a:t>
            </a:r>
            <a:r>
              <a:rPr lang="en-US" sz="2000" b="1" dirty="0"/>
              <a:t>Real, Suspicious, or Fake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Generates a </a:t>
            </a:r>
            <a:r>
              <a:rPr lang="en-IN" sz="2000" b="1" dirty="0"/>
              <a:t>credibility score</a:t>
            </a:r>
            <a:r>
              <a:rPr lang="en-IN" sz="2000" dirty="0"/>
              <a:t> for better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understanding</a:t>
            </a:r>
            <a:r>
              <a:rPr lang="en-US" sz="2000" dirty="0"/>
              <a:t>Verifies claims using trusted sources and AI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Reduces the spread of misinformation on digital platforms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Provides </a:t>
            </a:r>
            <a:r>
              <a:rPr lang="en-US" sz="2000" b="1" dirty="0"/>
              <a:t>explainable AI results</a:t>
            </a:r>
            <a:r>
              <a:rPr lang="en-US" sz="2000" dirty="0"/>
              <a:t> for transparency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Saves time compared to manual fact-checking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E275F-BA8E-240C-CF5D-F2A36C417835}"/>
              </a:ext>
            </a:extLst>
          </p:cNvPr>
          <p:cNvSpPr txBox="1"/>
          <p:nvPr/>
        </p:nvSpPr>
        <p:spPr>
          <a:xfrm>
            <a:off x="110448" y="4366314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9D0D1-F922-E2D9-B284-D07F0EFE3846}"/>
              </a:ext>
            </a:extLst>
          </p:cNvPr>
          <p:cNvSpPr txBox="1"/>
          <p:nvPr/>
        </p:nvSpPr>
        <p:spPr>
          <a:xfrm>
            <a:off x="262848" y="4518714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0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A3181-B17F-9DE5-C784-02047314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9648B-F5A5-139C-D148-3B02D715DB8F}"/>
              </a:ext>
            </a:extLst>
          </p:cNvPr>
          <p:cNvSpPr txBox="1"/>
          <p:nvPr/>
        </p:nvSpPr>
        <p:spPr>
          <a:xfrm>
            <a:off x="254285" y="483154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Modules to be Implemented</a:t>
            </a:r>
          </a:p>
        </p:txBody>
      </p:sp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7198DF84-3D2C-F226-5FEE-D6CBB499C981}"/>
              </a:ext>
            </a:extLst>
          </p:cNvPr>
          <p:cNvSpPr/>
          <p:nvPr/>
        </p:nvSpPr>
        <p:spPr>
          <a:xfrm>
            <a:off x="534254" y="1314778"/>
            <a:ext cx="4253503" cy="2248784"/>
          </a:xfrm>
          <a:prstGeom prst="snip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1.User Authentication Module</a:t>
            </a:r>
            <a:br>
              <a:rPr lang="en-IN" sz="2000" dirty="0"/>
            </a:br>
            <a:r>
              <a:rPr lang="en-IN" sz="2000" dirty="0"/>
              <a:t>secure login and registration.</a:t>
            </a:r>
          </a:p>
          <a:p>
            <a:endParaRPr lang="en-IN" sz="2000" dirty="0"/>
          </a:p>
          <a:p>
            <a:r>
              <a:rPr lang="en-IN" sz="2000" b="1" dirty="0"/>
              <a:t>2.Input Processing Module</a:t>
            </a:r>
          </a:p>
          <a:p>
            <a:r>
              <a:rPr lang="en-IN" sz="2000" dirty="0"/>
              <a:t>Accepts text or news article URLs.</a:t>
            </a:r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047D1B23-C09B-4377-8C05-4E1C9DDDFB4A}"/>
              </a:ext>
            </a:extLst>
          </p:cNvPr>
          <p:cNvSpPr/>
          <p:nvPr/>
        </p:nvSpPr>
        <p:spPr>
          <a:xfrm>
            <a:off x="534256" y="3815072"/>
            <a:ext cx="4397340" cy="2308325"/>
          </a:xfrm>
          <a:prstGeom prst="snip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3.LLM Analysis Engine</a:t>
            </a:r>
          </a:p>
          <a:p>
            <a:r>
              <a:rPr lang="en-IN" sz="2000" dirty="0"/>
              <a:t>Uses Google Gemini LLM</a:t>
            </a:r>
          </a:p>
          <a:p>
            <a:endParaRPr lang="en-IN" sz="2000" dirty="0"/>
          </a:p>
          <a:p>
            <a:r>
              <a:rPr lang="en-IN" sz="2000" b="1" dirty="0"/>
              <a:t>4.Classification Module</a:t>
            </a:r>
          </a:p>
          <a:p>
            <a:r>
              <a:rPr lang="en-IN" sz="2000" dirty="0"/>
              <a:t>Classifies news as </a:t>
            </a:r>
            <a:r>
              <a:rPr lang="en-IN" sz="2000" dirty="0" err="1"/>
              <a:t>real,Suspicious</a:t>
            </a:r>
            <a:r>
              <a:rPr lang="en-IN" sz="2000" dirty="0"/>
              <a:t>, or Fake</a:t>
            </a: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F9E3CB73-7261-ACAD-99F5-D77669BF6CC0}"/>
              </a:ext>
            </a:extLst>
          </p:cNvPr>
          <p:cNvSpPr/>
          <p:nvPr/>
        </p:nvSpPr>
        <p:spPr>
          <a:xfrm>
            <a:off x="5650787" y="1440533"/>
            <a:ext cx="6006957" cy="4497930"/>
          </a:xfrm>
          <a:prstGeom prst="snip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5.Claim Verification Module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Verifies claims using Fact-checking APIs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Generates Credibility score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/>
          </a:p>
          <a:p>
            <a:r>
              <a:rPr lang="en-IN" sz="2000" b="1" dirty="0"/>
              <a:t>6.Explainability &amp; Visualization Module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Highlights suspicious content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Shows reasoning behind predictions</a:t>
            </a:r>
          </a:p>
          <a:p>
            <a:endParaRPr lang="en-IN" sz="2000" dirty="0"/>
          </a:p>
          <a:p>
            <a:r>
              <a:rPr lang="en-IN" sz="2000" b="1" dirty="0"/>
              <a:t>7.Admin Dashboard Module</a:t>
            </a:r>
          </a:p>
          <a:p>
            <a:r>
              <a:rPr lang="en-IN" sz="2000" dirty="0"/>
              <a:t>Monitors usage , analytics, and system performance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8951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33401-F56D-2387-7BFC-B5736DB6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C41CC5-7C41-7FF2-D9E9-0CD4099C2BDC}"/>
              </a:ext>
            </a:extLst>
          </p:cNvPr>
          <p:cNvSpPr txBox="1"/>
          <p:nvPr/>
        </p:nvSpPr>
        <p:spPr>
          <a:xfrm>
            <a:off x="110448" y="224594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2B690-3E4F-5FBD-BB34-6010D7F3ACAA}"/>
              </a:ext>
            </a:extLst>
          </p:cNvPr>
          <p:cNvSpPr txBox="1"/>
          <p:nvPr/>
        </p:nvSpPr>
        <p:spPr>
          <a:xfrm>
            <a:off x="110448" y="809369"/>
            <a:ext cx="6395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User → Frontend → Backend API → Gemini LLM → </a:t>
            </a:r>
            <a:r>
              <a:rPr lang="en-IN" dirty="0" err="1"/>
              <a:t>Database→Result</a:t>
            </a:r>
            <a:r>
              <a:rPr lang="en-IN" dirty="0"/>
              <a:t> to User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B9F22E-6C99-65D5-130B-3D54523D4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550" y="227867"/>
            <a:ext cx="7130002" cy="6032367"/>
          </a:xfrm>
          <a:prstGeom prst="rect">
            <a:avLst/>
          </a:prstGeom>
        </p:spPr>
      </p:pic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2E8676AD-DB89-1885-1B65-2E6D22EE6FA5}"/>
              </a:ext>
            </a:extLst>
          </p:cNvPr>
          <p:cNvSpPr/>
          <p:nvPr/>
        </p:nvSpPr>
        <p:spPr>
          <a:xfrm>
            <a:off x="215756" y="2193576"/>
            <a:ext cx="2763748" cy="1017141"/>
          </a:xfrm>
          <a:prstGeom prst="round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Presentation Layer:</a:t>
            </a:r>
          </a:p>
          <a:p>
            <a:r>
              <a:rPr lang="en-IN" dirty="0"/>
              <a:t>Built using HTML , CSS,   </a:t>
            </a:r>
            <a:r>
              <a:rPr lang="en-IN" dirty="0" err="1"/>
              <a:t>Javascript</a:t>
            </a:r>
            <a:r>
              <a:rPr lang="en-IN" dirty="0"/>
              <a:t>.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9DDDC7D2-BB2E-3FAE-DF56-14D639AFBEFA}"/>
              </a:ext>
            </a:extLst>
          </p:cNvPr>
          <p:cNvSpPr/>
          <p:nvPr/>
        </p:nvSpPr>
        <p:spPr>
          <a:xfrm>
            <a:off x="215756" y="3549891"/>
            <a:ext cx="2681555" cy="1268875"/>
          </a:xfrm>
          <a:prstGeom prst="round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D90A8E4B-4641-E35E-2EA4-58C347D0C42A}"/>
              </a:ext>
            </a:extLst>
          </p:cNvPr>
          <p:cNvSpPr/>
          <p:nvPr/>
        </p:nvSpPr>
        <p:spPr>
          <a:xfrm>
            <a:off x="215756" y="5157940"/>
            <a:ext cx="2681555" cy="1017141"/>
          </a:xfrm>
          <a:prstGeom prst="round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Data Layer:</a:t>
            </a:r>
          </a:p>
          <a:p>
            <a:r>
              <a:rPr lang="en-US" dirty="0"/>
              <a:t>Stores users, news data, and results , Uses relational database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3D6A6-441C-2071-BD28-B5EBD962E641}"/>
              </a:ext>
            </a:extLst>
          </p:cNvPr>
          <p:cNvSpPr txBox="1"/>
          <p:nvPr/>
        </p:nvSpPr>
        <p:spPr>
          <a:xfrm>
            <a:off x="339046" y="3768823"/>
            <a:ext cx="25993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Application Layer:</a:t>
            </a:r>
          </a:p>
          <a:p>
            <a:r>
              <a:rPr lang="en-IN" sz="1600" dirty="0"/>
              <a:t>Flask REST API handles requests , Controls verification workflow.</a:t>
            </a:r>
          </a:p>
        </p:txBody>
      </p:sp>
    </p:spTree>
    <p:extLst>
      <p:ext uri="{BB962C8B-B14F-4D97-AF65-F5344CB8AC3E}">
        <p14:creationId xmlns:p14="http://schemas.microsoft.com/office/powerpoint/2010/main" val="3585876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C1E1B-26D5-F66B-4035-52499E24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Database Schema &amp; 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2BCC0-01E4-0A41-9291-6C428E7C8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Database Schema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A0F8F-4E5B-A48D-6FD4-01DDD1A9E1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b="1" dirty="0"/>
              <a:t>Users Table:</a:t>
            </a:r>
            <a:r>
              <a:rPr lang="en-US" sz="2400" dirty="0"/>
              <a:t> User ID, Name, Email, Password</a:t>
            </a:r>
          </a:p>
          <a:p>
            <a:r>
              <a:rPr lang="en-US" sz="2400" b="1" dirty="0"/>
              <a:t>News Table:</a:t>
            </a:r>
            <a:r>
              <a:rPr lang="en-US" sz="2400" dirty="0"/>
              <a:t> News ID, Content / URL, Date</a:t>
            </a:r>
          </a:p>
          <a:p>
            <a:r>
              <a:rPr lang="en-US" sz="2400" b="1" dirty="0"/>
              <a:t>Results Table:</a:t>
            </a:r>
            <a:r>
              <a:rPr lang="en-US" sz="2400" dirty="0"/>
              <a:t> Credibility Score, Classification, Explanation</a:t>
            </a:r>
          </a:p>
          <a:p>
            <a:r>
              <a:rPr lang="en-US" sz="2400" b="1" dirty="0"/>
              <a:t>Logs Table:</a:t>
            </a:r>
            <a:r>
              <a:rPr lang="en-US" sz="2400" dirty="0"/>
              <a:t> User activity and verification history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CC629-1050-E22C-BE7C-99D50BBF9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Technology Stack</a:t>
            </a:r>
            <a:endParaRPr lang="en-IN" sz="24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3D1E431-AD0D-31AB-C1B1-304DCCA721F7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217920" y="2932607"/>
            <a:ext cx="565099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JavaScript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Flask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Gemini LLM( BERT,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PostgreSQL / SQLite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Fact-Checking APIs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JWT</a:t>
            </a:r>
          </a:p>
        </p:txBody>
      </p:sp>
    </p:spTree>
    <p:extLst>
      <p:ext uri="{BB962C8B-B14F-4D97-AF65-F5344CB8AC3E}">
        <p14:creationId xmlns:p14="http://schemas.microsoft.com/office/powerpoint/2010/main" val="318988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885F-D58D-4533-6CAB-AA9095431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F78A01-2919-0EEF-5327-043D79076BE6}"/>
              </a:ext>
            </a:extLst>
          </p:cNvPr>
          <p:cNvSpPr txBox="1"/>
          <p:nvPr/>
        </p:nvSpPr>
        <p:spPr>
          <a:xfrm>
            <a:off x="254285" y="483154"/>
            <a:ext cx="6097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FC584C-8CD8-8D96-1962-E59F969A0311}"/>
              </a:ext>
            </a:extLst>
          </p:cNvPr>
          <p:cNvSpPr txBox="1"/>
          <p:nvPr/>
        </p:nvSpPr>
        <p:spPr>
          <a:xfrm>
            <a:off x="470041" y="1868957"/>
            <a:ext cx="10697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err="1"/>
              <a:t>TruthGuard</a:t>
            </a:r>
            <a:r>
              <a:rPr lang="en-IN" sz="2800" dirty="0"/>
              <a:t> provides a reliable and intelligent solution for detecting fake news using AI and LLM technologies.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FC8AA-8FE5-ECC2-11C1-10BDEA72BA05}"/>
              </a:ext>
            </a:extLst>
          </p:cNvPr>
          <p:cNvSpPr txBox="1"/>
          <p:nvPr/>
        </p:nvSpPr>
        <p:spPr>
          <a:xfrm>
            <a:off x="367299" y="3466356"/>
            <a:ext cx="100712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The system improves information credibility, promotes digital responsibility, and helps users make informed decisions in the digital era.</a:t>
            </a:r>
          </a:p>
        </p:txBody>
      </p:sp>
    </p:spTree>
    <p:extLst>
      <p:ext uri="{BB962C8B-B14F-4D97-AF65-F5344CB8AC3E}">
        <p14:creationId xmlns:p14="http://schemas.microsoft.com/office/powerpoint/2010/main" val="924333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DF8159-BE98-0493-65F9-94709F02E9A6}"/>
              </a:ext>
            </a:extLst>
          </p:cNvPr>
          <p:cNvSpPr txBox="1"/>
          <p:nvPr/>
        </p:nvSpPr>
        <p:spPr>
          <a:xfrm>
            <a:off x="141732" y="1120676"/>
            <a:ext cx="60990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User enters news text or URL</a:t>
            </a:r>
          </a:p>
          <a:p>
            <a:r>
              <a:rPr lang="en-US" sz="2400" dirty="0"/>
              <a:t>System analyzes content</a:t>
            </a:r>
          </a:p>
          <a:p>
            <a:r>
              <a:rPr lang="en-US" sz="2400" dirty="0"/>
              <a:t>Displays:</a:t>
            </a:r>
          </a:p>
          <a:p>
            <a:pPr lvl="1"/>
            <a:r>
              <a:rPr lang="en-US" sz="2400" dirty="0"/>
              <a:t>Credibility Score</a:t>
            </a:r>
          </a:p>
          <a:p>
            <a:pPr lvl="1"/>
            <a:r>
              <a:rPr lang="en-US" sz="2400" dirty="0"/>
              <a:t>Classification (Real / Suspicious / Fake)</a:t>
            </a:r>
          </a:p>
          <a:p>
            <a:pPr lvl="1"/>
            <a:r>
              <a:rPr lang="en-US" sz="2400" dirty="0"/>
              <a:t>Explanation and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B7706-D7FE-3C8E-0766-AB5BB874A785}"/>
              </a:ext>
            </a:extLst>
          </p:cNvPr>
          <p:cNvSpPr txBox="1"/>
          <p:nvPr/>
        </p:nvSpPr>
        <p:spPr>
          <a:xfrm>
            <a:off x="141732" y="336542"/>
            <a:ext cx="60990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Sample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C4B3A-592F-1C4E-729F-DB2A25411818}"/>
              </a:ext>
            </a:extLst>
          </p:cNvPr>
          <p:cNvSpPr txBox="1"/>
          <p:nvPr/>
        </p:nvSpPr>
        <p:spPr>
          <a:xfrm>
            <a:off x="489204" y="3928795"/>
            <a:ext cx="61356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Input Text:</a:t>
            </a:r>
          </a:p>
          <a:p>
            <a:pPr>
              <a:buNone/>
            </a:pPr>
            <a:r>
              <a:rPr lang="en-US" sz="3600" dirty="0"/>
              <a:t>“Mumbai is the capital of India.”</a:t>
            </a:r>
            <a:endParaRPr lang="en-US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619B0-1453-48AC-8A74-5A7BAF6E560E}"/>
              </a:ext>
            </a:extLst>
          </p:cNvPr>
          <p:cNvSpPr txBox="1"/>
          <p:nvPr/>
        </p:nvSpPr>
        <p:spPr>
          <a:xfrm>
            <a:off x="5567172" y="458956"/>
            <a:ext cx="613562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Output:</a:t>
            </a:r>
          </a:p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Classification:</a:t>
            </a:r>
            <a:r>
              <a:rPr lang="en-US" sz="2400" dirty="0"/>
              <a:t> ❌ Fake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Confidence Score:</a:t>
            </a:r>
            <a:r>
              <a:rPr lang="en-US" sz="2400" dirty="0"/>
              <a:t> 89.6%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Credibility Score:</a:t>
            </a:r>
            <a:r>
              <a:rPr lang="en-US" sz="2400" dirty="0"/>
              <a:t> 2.1 /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Sentiment Score:</a:t>
            </a:r>
            <a:r>
              <a:rPr lang="en-US" sz="2400" dirty="0"/>
              <a:t> 0.00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Verification Status:</a:t>
            </a:r>
            <a:r>
              <a:rPr lang="en-US" sz="2400" dirty="0"/>
              <a:t> Mismatch with verified government sources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Correct Information:</a:t>
            </a:r>
            <a:endParaRPr lang="en-US" sz="2400" dirty="0"/>
          </a:p>
          <a:p>
            <a:pPr lvl="1"/>
            <a:r>
              <a:rPr lang="en-US" sz="2400" dirty="0"/>
              <a:t>The capital of India is </a:t>
            </a:r>
            <a:r>
              <a:rPr lang="en-US" sz="2400" b="1" dirty="0"/>
              <a:t>New Delhi</a:t>
            </a:r>
          </a:p>
          <a:p>
            <a:pPr lvl="1"/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14E0B2-DF80-27A2-1533-E25FDAC67119}"/>
              </a:ext>
            </a:extLst>
          </p:cNvPr>
          <p:cNvSpPr txBox="1"/>
          <p:nvPr/>
        </p:nvSpPr>
        <p:spPr>
          <a:xfrm>
            <a:off x="5884164" y="5006013"/>
            <a:ext cx="6135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Explanation:</a:t>
            </a:r>
            <a:br>
              <a:rPr lang="en-US" sz="2400" dirty="0"/>
            </a:br>
            <a:r>
              <a:rPr lang="en-US" sz="2400" dirty="0"/>
              <a:t>This statement contradicts officially verified geographical facts.</a:t>
            </a:r>
          </a:p>
        </p:txBody>
      </p:sp>
    </p:spTree>
    <p:extLst>
      <p:ext uri="{BB962C8B-B14F-4D97-AF65-F5344CB8AC3E}">
        <p14:creationId xmlns:p14="http://schemas.microsoft.com/office/powerpoint/2010/main" val="3559208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82481-5AFF-4444-0DC4-2E897AB3A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10376" cy="2640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4B9ABC-94F2-2422-A9CE-68F7F400D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4022"/>
            <a:ext cx="12192000" cy="3524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57597-F659-E2C3-AD74-85F3ACDBC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376" y="0"/>
            <a:ext cx="7181623" cy="273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42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B21E-98D3-8706-F07B-8A4AD7B6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04F67E-7D97-2E1D-5552-21FCBF061DD3}"/>
              </a:ext>
            </a:extLst>
          </p:cNvPr>
          <p:cNvSpPr txBox="1"/>
          <p:nvPr/>
        </p:nvSpPr>
        <p:spPr>
          <a:xfrm>
            <a:off x="3011185" y="2275419"/>
            <a:ext cx="61696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b="1" dirty="0">
                <a:latin typeface="Aptos Narrow" panose="020B0004020202020204" pitchFamily="34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6391413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396</TotalTime>
  <Words>644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 Narrow</vt:lpstr>
      <vt:lpstr>Arial</vt:lpstr>
      <vt:lpstr>Calibri</vt:lpstr>
      <vt:lpstr>Calibri Light</vt:lpstr>
      <vt:lpstr>Wingdings</vt:lpstr>
      <vt:lpstr>Retrospect</vt:lpstr>
      <vt:lpstr>FAKE NEWS DETECTION AND VERIFICATION 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Schema &amp; Technology Stack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Janani A</dc:creator>
  <cp:lastModifiedBy>Janani A</cp:lastModifiedBy>
  <cp:revision>4</cp:revision>
  <dcterms:created xsi:type="dcterms:W3CDTF">2026-01-14T07:57:25Z</dcterms:created>
  <dcterms:modified xsi:type="dcterms:W3CDTF">2026-01-16T15:23:45Z</dcterms:modified>
</cp:coreProperties>
</file>